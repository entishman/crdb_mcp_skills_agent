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Self-Learning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CockroachDB Management with Query-Based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What This Demo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An AI agent that learns from every interaction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Understands natural language questions about databases</a:t>
            </a:r>
          </a:p>
          <a:p>
            <a:pPr>
              <a:spcAft>
                <a:spcPts val="1200"/>
              </a:spcAft>
              <a:defRPr sz="1800"/>
            </a:pPr>
            <a:r>
              <a:t>• Learns which documentation helps for each type of query</a:t>
            </a:r>
          </a:p>
          <a:p>
            <a:pPr>
              <a:spcAft>
                <a:spcPts val="1200"/>
              </a:spcAft>
              <a:defRPr sz="1800"/>
            </a:pPr>
            <a:r>
              <a:t>• Gets smarter over time (no retraining needed)</a:t>
            </a:r>
          </a:p>
          <a:p>
            <a:pPr>
              <a:spcAft>
                <a:spcPts val="1200"/>
              </a:spcAft>
              <a:defRPr sz="1800"/>
            </a:pPr>
            <a:r>
              <a:t>• Built on CockroachDB with vector similarity search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Result: 95% cost reduction, instant answers, progressive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Problem: Traditional Chatbots Don't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Static Knowledge Base:</a:t>
            </a:r>
          </a:p>
          <a:p>
            <a:pPr>
              <a:spcAft>
                <a:spcPts val="1200"/>
              </a:spcAft>
              <a:defRPr sz="1800"/>
            </a:pPr>
            <a:r>
              <a:t>• Load ALL documentation every time (wasteful)</a:t>
            </a:r>
          </a:p>
          <a:p>
            <a:pPr>
              <a:spcAft>
                <a:spcPts val="1200"/>
              </a:spcAft>
              <a:defRPr sz="1800"/>
            </a:pPr>
            <a:r>
              <a:t>• No learning from user interactions</a:t>
            </a:r>
          </a:p>
          <a:p>
            <a:pPr>
              <a:spcAft>
                <a:spcPts val="1200"/>
              </a:spcAft>
              <a:defRPr sz="1800"/>
            </a:pPr>
            <a:r>
              <a:t>• Can't understand paraphrased questions</a:t>
            </a:r>
          </a:p>
          <a:p>
            <a:pPr>
              <a:spcAft>
                <a:spcPts val="1200"/>
              </a:spcAft>
              <a:defRPr sz="1800"/>
            </a:pPr>
            <a:r>
              <a:t>• Same mistakes repeated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Cost Impact:</a:t>
            </a:r>
          </a:p>
          <a:p>
            <a:pPr>
              <a:spcAft>
                <a:spcPts val="1200"/>
              </a:spcAft>
              <a:defRPr sz="1800"/>
            </a:pPr>
            <a:r>
              <a:t>• ~50,000 tokens per query ($$$)</a:t>
            </a:r>
          </a:p>
          <a:p>
            <a:pPr>
              <a:spcAft>
                <a:spcPts val="1200"/>
              </a:spcAft>
              <a:defRPr sz="1800"/>
            </a:pPr>
            <a:r>
              <a:t>• Slow responses (processing huge context)</a:t>
            </a:r>
          </a:p>
          <a:p>
            <a:pPr>
              <a:spcAft>
                <a:spcPts val="1200"/>
              </a:spcAft>
              <a:defRPr sz="1800"/>
            </a:pPr>
            <a:r>
              <a:t>• Scaling is expensive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Our Solution: Query-Based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Smart Learning System:</a:t>
            </a:r>
          </a:p>
          <a:p>
            <a:pPr>
              <a:spcAft>
                <a:spcPts val="1200"/>
              </a:spcAft>
              <a:defRPr sz="1800"/>
            </a:pPr>
            <a:r>
              <a:t>• Store every query with semantic embedding (384-dim vector)</a:t>
            </a:r>
          </a:p>
          <a:p>
            <a:pPr>
              <a:spcAft>
                <a:spcPts val="1200"/>
              </a:spcAft>
              <a:defRPr sz="1800"/>
            </a:pPr>
            <a:r>
              <a:t>• Find similar past queries using AI</a:t>
            </a:r>
          </a:p>
          <a:p>
            <a:pPr>
              <a:spcAft>
                <a:spcPts val="1200"/>
              </a:spcAft>
              <a:defRPr sz="1800"/>
            </a:pPr>
            <a:r>
              <a:t>• Load only relevant documentation (2-5 files vs 25)</a:t>
            </a:r>
          </a:p>
          <a:p>
            <a:pPr>
              <a:spcAft>
                <a:spcPts val="1200"/>
              </a:spcAft>
              <a:defRPr sz="1800"/>
            </a:pPr>
            <a:r>
              <a:t>• Learn which docs actually helped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Benefits:</a:t>
            </a:r>
          </a:p>
          <a:p>
            <a:pPr>
              <a:spcAft>
                <a:spcPts val="1200"/>
              </a:spcAft>
              <a:defRPr sz="1800"/>
            </a:pPr>
            <a:r>
              <a:t>• 95% token savings (~2,500 tokens/query)</a:t>
            </a:r>
          </a:p>
          <a:p>
            <a:pPr>
              <a:spcAft>
                <a:spcPts val="1200"/>
              </a:spcAft>
              <a:defRPr sz="1800"/>
            </a:pPr>
            <a:r>
              <a:t>• Sub-second similarity search</a:t>
            </a:r>
          </a:p>
          <a:p>
            <a:pPr>
              <a:spcAft>
                <a:spcPts val="1200"/>
              </a:spcAft>
              <a:defRPr sz="1800"/>
            </a:pPr>
            <a:r>
              <a:t>• Continuously improving (gets smarter)</a:t>
            </a:r>
          </a:p>
          <a:p>
            <a:pPr>
              <a:spcAft>
                <a:spcPts val="1200"/>
              </a:spcAft>
              <a:defRPr sz="1800"/>
            </a:pPr>
            <a:r>
              <a:t>• Scalable to millions of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System Architecture: Learning AI Agent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1371600" cy="54864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828800"/>
            <a:ext cx="2286000" cy="731520"/>
          </a:xfrm>
          <a:prstGeom prst="roundRect">
            <a:avLst/>
          </a:prstGeom>
          <a:solidFill>
            <a:srgbClr val="FFE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/>
            </a:pPr>
            <a:r>
              <a:t>AI Agent</a:t>
            </a:r>
          </a:p>
          <a:p>
            <a:r>
              <a:t>(Learning Engine)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1828800" cy="640080"/>
          </a:xfrm>
          <a:prstGeom prst="roundRect">
            <a:avLst/>
          </a:prstGeom>
          <a:solidFill>
            <a:srgbClr val="FFE6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Embeddings</a:t>
            </a:r>
          </a:p>
          <a:p>
            <a:r>
              <a:t>sentence-transformers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2926080"/>
            <a:ext cx="1645920" cy="640080"/>
          </a:xfrm>
          <a:prstGeom prst="roundRect">
            <a:avLst/>
          </a:prstGeom>
          <a:solidFill>
            <a:srgbClr val="E6CC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Claude API</a:t>
            </a:r>
          </a:p>
          <a:p>
            <a:r>
              <a:t>Sonnet 4.6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926080"/>
            <a:ext cx="1828800" cy="640080"/>
          </a:xfrm>
          <a:prstGeom prst="roundRect">
            <a:avLst/>
          </a:prstGeom>
          <a:solidFill>
            <a:srgbClr val="F0F0F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MCP Server</a:t>
            </a:r>
          </a:p>
          <a:p>
            <a:r>
              <a:t>Database 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4389120"/>
            <a:ext cx="5029200" cy="1645920"/>
          </a:xfrm>
          <a:prstGeom prst="roundRect">
            <a:avLst/>
          </a:prstGeom>
          <a:solidFill>
            <a:srgbClr val="CCE6CC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006400"/>
                </a:solidFill>
              </a:defRPr>
            </a:pPr>
            <a:r>
              <a:t>CockroachDB Cluster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5029200"/>
            <a:ext cx="146304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query_history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5029200"/>
            <a:ext cx="109728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skills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5029200"/>
            <a:ext cx="1280160" cy="457200"/>
          </a:xfrm>
          <a:prstGeom prst="rect">
            <a:avLst/>
          </a:prstGeom>
          <a:solidFill>
            <a:srgbClr val="99D6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testdb (User DB)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00600" y="1463040"/>
            <a:ext cx="0" cy="36576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286000" y="2194560"/>
            <a:ext cx="1371600" cy="731520"/>
          </a:xfrm>
          <a:prstGeom prst="line">
            <a:avLst/>
          </a:prstGeom>
          <a:ln>
            <a:solidFill>
              <a:srgbClr val="CC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3566160" y="2560320"/>
            <a:ext cx="822960" cy="365760"/>
          </a:xfrm>
          <a:prstGeom prst="line">
            <a:avLst/>
          </a:prstGeom>
          <a:ln>
            <a:solidFill>
              <a:srgbClr val="9900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560320"/>
            <a:ext cx="640080" cy="365760"/>
          </a:xfrm>
          <a:prstGeom prst="line">
            <a:avLst/>
          </a:prstGeom>
          <a:ln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029200" y="3566160"/>
            <a:ext cx="640080" cy="822960"/>
          </a:xfrm>
          <a:prstGeom prst="line">
            <a:avLst/>
          </a:prstGeom>
          <a:ln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71600" y="3566160"/>
            <a:ext cx="1554480" cy="1463040"/>
          </a:xfrm>
          <a:prstGeom prst="line">
            <a:avLst/>
          </a:prstGeom>
          <a:ln>
            <a:solidFill>
              <a:srgbClr val="0099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The Learning Loop: Getting Smarter Over 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097280"/>
            <a:ext cx="2743200" cy="731520"/>
          </a:xfrm>
          <a:prstGeom prst="roundRect">
            <a:avLst/>
          </a:prstGeom>
          <a:solidFill>
            <a:srgbClr val="E8F4F8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1. User Query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2011680"/>
            <a:ext cx="2743200" cy="73152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2. Generate</a:t>
            </a:r>
          </a:p>
          <a:p>
            <a:r>
              <a:t>Embedding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18288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00400" y="2926080"/>
            <a:ext cx="2743200" cy="731520"/>
          </a:xfrm>
          <a:prstGeom prst="roundRect">
            <a:avLst/>
          </a:prstGeom>
          <a:solidFill>
            <a:srgbClr val="FFFF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3. Find Similar</a:t>
            </a:r>
          </a:p>
          <a:p>
            <a:r>
              <a:t>Queries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27432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00400" y="3840480"/>
            <a:ext cx="2743200" cy="731520"/>
          </a:xfrm>
          <a:prstGeom prst="roundRect">
            <a:avLst/>
          </a:prstGeom>
          <a:solidFill>
            <a:srgbClr val="CCFF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4. Load Learned</a:t>
            </a:r>
          </a:p>
          <a:p>
            <a:r>
              <a:t>Skills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365760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00400" y="4937760"/>
            <a:ext cx="2743200" cy="731520"/>
          </a:xfrm>
          <a:prstGeom prst="roundRect">
            <a:avLst/>
          </a:prstGeom>
          <a:solidFill>
            <a:srgbClr val="E6CCE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5. Claude</a:t>
            </a:r>
          </a:p>
          <a:p>
            <a:r>
              <a:t>Answers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4572000"/>
            <a:ext cx="0" cy="36576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00400" y="5852160"/>
            <a:ext cx="2743200" cy="731520"/>
          </a:xfrm>
          <a:prstGeom prst="roundRect">
            <a:avLst/>
          </a:prstGeom>
          <a:solidFill>
            <a:srgbClr val="CCE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/>
            </a:pPr>
            <a:r>
              <a:t>6. Store</a:t>
            </a:r>
          </a:p>
          <a:p>
            <a:r>
              <a:t>Learning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5669280"/>
            <a:ext cx="0" cy="182880"/>
          </a:xfrm>
          <a:prstGeom prst="line">
            <a:avLst/>
          </a:prstGeom>
          <a:ln w="381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urved Right Arrow 13"/>
          <p:cNvSpPr/>
          <p:nvPr/>
        </p:nvSpPr>
        <p:spPr>
          <a:xfrm>
            <a:off x="6400800" y="3200400"/>
            <a:ext cx="1371600" cy="548640"/>
          </a:xfrm>
          <a:prstGeom prst="curvedRightArrow">
            <a:avLst/>
          </a:prstGeom>
          <a:solidFill>
            <a:srgbClr val="009900"/>
          </a:solidFill>
          <a:ln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Next Query</a:t>
            </a:r>
          </a:p>
          <a:p>
            <a:r>
              <a:t>Uses Learning!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Example: Learning in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Day 1 - User asks: "How do I check cluster health?"</a:t>
            </a:r>
          </a:p>
          <a:p>
            <a:pPr>
              <a:spcAft>
                <a:spcPts val="1200"/>
              </a:spcAft>
              <a:defRPr sz="1800"/>
            </a:pPr>
            <a:r>
              <a:t>  → No match found (first time)</a:t>
            </a:r>
          </a:p>
          <a:p>
            <a:pPr>
              <a:spcAft>
                <a:spcPts val="1200"/>
              </a:spcAft>
              <a:defRPr sz="1800"/>
            </a:pPr>
            <a:r>
              <a:t>  → Load 3 default skills</a:t>
            </a:r>
          </a:p>
          <a:p>
            <a:pPr>
              <a:spcAft>
                <a:spcPts val="1200"/>
              </a:spcAft>
              <a:defRPr sz="1800"/>
            </a:pPr>
            <a:r>
              <a:t>  → Claude answers using 'reviewing-cluster-health' skill</a:t>
            </a:r>
          </a:p>
          <a:p>
            <a:pPr>
              <a:spcAft>
                <a:spcPts val="1200"/>
              </a:spcAft>
              <a:defRPr sz="1800"/>
            </a:pPr>
            <a:r>
              <a:t>  → Store: query + skill that helped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Day 2 - User asks: "Is my cluster healthy?"</a:t>
            </a:r>
          </a:p>
          <a:p>
            <a:pPr>
              <a:spcAft>
                <a:spcPts val="1200"/>
              </a:spcAft>
              <a:defRPr sz="1800"/>
            </a:pPr>
            <a:r>
              <a:t>  → Found similar! (0.72 similarity score)</a:t>
            </a:r>
          </a:p>
          <a:p>
            <a:pPr>
              <a:spcAft>
                <a:spcPts val="1200"/>
              </a:spcAft>
              <a:defRPr sz="1800"/>
            </a:pPr>
            <a:r>
              <a:t>  → Pre-load 'reviewing-cluster-health'</a:t>
            </a:r>
          </a:p>
          <a:p>
            <a:pPr>
              <a:spcAft>
                <a:spcPts val="1200"/>
              </a:spcAft>
              <a:defRPr sz="1800"/>
            </a:pPr>
            <a:r>
              <a:t>  → Answer immediately ✓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System learned the pattern without retraining!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 Case #1: Customer Support Chatbot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4572000" cy="54864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SaaS Company with CockroachDB Backend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64008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Customer: 'Why is my query slow?' → Agent finds similar: 'slow queries troubleshooting'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6517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926080"/>
            <a:ext cx="6400800" cy="64008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loads learned skills: ['query-optimization', 'index-tuning']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5661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840480"/>
            <a:ext cx="6400800" cy="640080"/>
          </a:xfrm>
          <a:prstGeom prst="roundRect">
            <a:avLst/>
          </a:prstGeom>
          <a:solidFill>
            <a:srgbClr val="E6FF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Claude analyzes customer's query plan, suggests indexes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FF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stores: This question type → these skills worked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53949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Next customer with slow query → Instant answer (already learned!)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Use Case #2: Database Operations Assistant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097280"/>
            <a:ext cx="4572000" cy="548640"/>
          </a:xfrm>
          <a:prstGeom prst="roundRect">
            <a:avLst/>
          </a:prstGeom>
          <a:solidFill>
            <a:srgbClr val="0066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DevOps Team Managing 50+ CockroachDB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6400800" cy="640080"/>
          </a:xfrm>
          <a:prstGeom prst="roundRect">
            <a:avLst/>
          </a:prstGeom>
          <a:solidFill>
            <a:srgbClr val="E8F4F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Engineer: 'Show me clusters with replication lag' → Agent searches similar queries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26517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371600" y="2926080"/>
            <a:ext cx="6400800" cy="640080"/>
          </a:xfrm>
          <a:prstGeom prst="roundRect">
            <a:avLst/>
          </a:prstGeom>
          <a:solidFill>
            <a:srgbClr val="FFF4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Agent loads: ['monitoring-replication', 'cluster-health-checks']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5661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371600" y="3840480"/>
            <a:ext cx="6400800" cy="640080"/>
          </a:xfrm>
          <a:prstGeom prst="roundRect">
            <a:avLst/>
          </a:prstGeom>
          <a:solidFill>
            <a:srgbClr val="E6FFE6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Claude uses MCP tools to query cluster metadata across all regions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44805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71600" y="4754880"/>
            <a:ext cx="6400800" cy="640080"/>
          </a:xfrm>
          <a:prstGeom prst="roundRect">
            <a:avLst/>
          </a:prstGeom>
          <a:solidFill>
            <a:srgbClr val="FFE6FF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Returns: 3 clusters with lag &gt;1s, with specific recommendations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72000" y="5394960"/>
            <a:ext cx="0" cy="27432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371600" y="5669280"/>
            <a:ext cx="6400800" cy="640080"/>
          </a:xfrm>
          <a:prstGeom prst="roundRect">
            <a:avLst/>
          </a:prstGeom>
          <a:solidFill>
            <a:srgbClr val="FFFFC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800"/>
              </a:spcBef>
              <a:defRPr sz="1400"/>
            </a:pPr>
            <a:r>
              <a:t>Team learns: This agent knows operational patterns better than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The Power of SKILL.md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What are SKILL.md files?</a:t>
            </a:r>
          </a:p>
          <a:p>
            <a:pPr>
              <a:spcAft>
                <a:spcPts val="1200"/>
              </a:spcAft>
              <a:defRPr sz="1800"/>
            </a:pPr>
            <a:r>
              <a:t>• 25 expert-written guides for CockroachDB operations</a:t>
            </a:r>
          </a:p>
          <a:p>
            <a:pPr>
              <a:spcAft>
                <a:spcPts val="1200"/>
              </a:spcAft>
              <a:defRPr sz="1800"/>
            </a:pPr>
            <a:r>
              <a:t>• Cover: health checks, query optimization, replication, backups, etc.</a:t>
            </a:r>
          </a:p>
          <a:p>
            <a:pPr>
              <a:spcAft>
                <a:spcPts val="1200"/>
              </a:spcAft>
              <a:defRPr sz="1800"/>
            </a:pPr>
            <a:r>
              <a:t>• Structured knowledge for LLMs to consume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They Matter:</a:t>
            </a:r>
          </a:p>
          <a:p>
            <a:pPr>
              <a:spcAft>
                <a:spcPts val="1200"/>
              </a:spcAft>
              <a:defRPr sz="1800"/>
            </a:pPr>
            <a:r>
              <a:t>• Turn tribal knowledge into searchable intelligence</a:t>
            </a:r>
          </a:p>
          <a:p>
            <a:pPr>
              <a:spcAft>
                <a:spcPts val="1200"/>
              </a:spcAft>
              <a:defRPr sz="1800"/>
            </a:pPr>
            <a:r>
              <a:t>• LLM gets expert context for each query type</a:t>
            </a:r>
          </a:p>
          <a:p>
            <a:pPr>
              <a:spcAft>
                <a:spcPts val="1200"/>
              </a:spcAft>
              <a:defRPr sz="1800"/>
            </a:pPr>
            <a:r>
              <a:t>• Reusable across all AI agents</a:t>
            </a:r>
          </a:p>
          <a:p>
            <a:pPr>
              <a:spcAft>
                <a:spcPts val="1200"/>
              </a:spcAft>
              <a:defRPr sz="1800"/>
            </a:pPr>
            <a:r>
              <a:t>• Continuously expandable (new skills = new capabilities)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Value: Transform docs into intelligent assistance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How SKILL.md Files Drive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Traditional Approach:</a:t>
            </a:r>
          </a:p>
          <a:p>
            <a:pPr>
              <a:spcAft>
                <a:spcPts val="1200"/>
              </a:spcAft>
              <a:defRPr sz="1800"/>
            </a:pPr>
            <a:r>
              <a:t>• Load all 25 SKILL.md files every time → ~50k tokens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Our Learning Approach:</a:t>
            </a:r>
          </a:p>
          <a:p>
            <a:pPr>
              <a:spcAft>
                <a:spcPts val="1200"/>
              </a:spcAft>
              <a:defRPr sz="1800"/>
            </a:pPr>
            <a:r>
              <a:t>• Query 1: 'replication issues' → Loads 3 defaults, uses 1</a:t>
            </a:r>
          </a:p>
          <a:p>
            <a:pPr>
              <a:spcAft>
                <a:spcPts val="1200"/>
              </a:spcAft>
              <a:defRPr sz="1800"/>
            </a:pPr>
            <a:r>
              <a:t>  Store: This query → 'replication-configuration' skill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• Query 2: 'configure replication' → Similar! (0.68 score)</a:t>
            </a:r>
          </a:p>
          <a:p>
            <a:pPr>
              <a:spcAft>
                <a:spcPts val="1200"/>
              </a:spcAft>
              <a:defRPr sz="1800"/>
            </a:pPr>
            <a:r>
              <a:t>  Pre-load: 'replication-configuration' (learned!)</a:t>
            </a:r>
          </a:p>
          <a:p>
            <a:pPr>
              <a:spcAft>
                <a:spcPts val="1200"/>
              </a:spcAft>
              <a:defRPr sz="1800"/>
            </a:pPr>
            <a:r>
              <a:t>  Result: Instant answer, only ~2.5k tokens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The system learns query→skill mappings automatically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Why CockroachDB? The Only Database Built for This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5029200"/>
          </a:xfrm>
          <a:prstGeom prst="roundRect">
            <a:avLst/>
          </a:prstGeom>
          <a:solidFill>
            <a:srgbClr val="CCFFCC"/>
          </a:solidFill>
          <a:ln w="508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8000"/>
                </a:solidFill>
              </a:defRPr>
            </a:pPr>
            <a:r>
              <a:t>CockroachDB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Native pgvector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Distributed 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Strong consistency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HNSW index (fast 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Horizontal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Multi-region 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404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400"/>
                </a:solidFill>
              </a:defRPr>
            </a:pPr>
            <a:r>
              <a:t>✓ ACID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0"/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448055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Perfect for: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59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AI/ML 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12063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Global deployments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4067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/>
            </a:pPr>
            <a:r>
              <a:t>• Learning systems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1097280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23444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15087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native scaling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17830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Single-region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0574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✓ pgvector (plugin)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834639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29718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MongoDB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46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pgvector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352043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Eventual consistency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794759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SQL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4572000"/>
            <a:ext cx="2103120" cy="1463040"/>
          </a:xfrm>
          <a:prstGeom prst="roundRect">
            <a:avLst/>
          </a:prstGeom>
          <a:solidFill>
            <a:srgbClr val="FFE6E6"/>
          </a:solidFill>
          <a:ln w="25400">
            <a:solidFill>
              <a:srgbClr val="C8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19" y="470916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800000"/>
                </a:solidFill>
              </a:defRPr>
            </a:pPr>
            <a: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19" y="498348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vector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19" y="525780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Limited scaling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5532120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t>✗ No pgvector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Why CockroachDB is Uniquely Suited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Native Vector Support (pgvector):</a:t>
            </a:r>
          </a:p>
          <a:p>
            <a:pPr>
              <a:spcAft>
                <a:spcPts val="1200"/>
              </a:spcAft>
              <a:defRPr sz="1800"/>
            </a:pPr>
            <a:r>
              <a:t>• 384-dimensional embeddings stored directly in DB</a:t>
            </a:r>
          </a:p>
          <a:p>
            <a:pPr>
              <a:spcAft>
                <a:spcPts val="1200"/>
              </a:spcAft>
              <a:defRPr sz="1800"/>
            </a:pPr>
            <a:r>
              <a:t>• HNSW index for O(log n) similarity search (vs O(n) brute force)</a:t>
            </a:r>
          </a:p>
          <a:p>
            <a:pPr>
              <a:spcAft>
                <a:spcPts val="1200"/>
              </a:spcAft>
              <a:defRPr sz="1800"/>
            </a:pPr>
            <a:r>
              <a:t>• Cosine distance operator: 1 - (embedding &lt;-&gt; query)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Distributed Architecture:</a:t>
            </a:r>
          </a:p>
          <a:p>
            <a:pPr>
              <a:spcAft>
                <a:spcPts val="1200"/>
              </a:spcAft>
              <a:defRPr sz="1800"/>
            </a:pPr>
            <a:r>
              <a:t>• Learning data replicated across regions (no single point of failure)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deployments for global chatbots</a:t>
            </a:r>
          </a:p>
          <a:p>
            <a:pPr>
              <a:spcAft>
                <a:spcPts val="1200"/>
              </a:spcAft>
              <a:defRPr sz="1800"/>
            </a:pPr>
            <a:r>
              <a:t>• Horizontal scaling as learning data grows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SQL + NoSQL Benefits:</a:t>
            </a:r>
          </a:p>
          <a:p>
            <a:pPr>
              <a:spcAft>
                <a:spcPts val="1200"/>
              </a:spcAft>
              <a:defRPr sz="1800"/>
            </a:pPr>
            <a:r>
              <a:t>• Store structured data (tables) + unstructured (vectors) together</a:t>
            </a:r>
          </a:p>
          <a:p>
            <a:pPr>
              <a:spcAft>
                <a:spcPts val="1200"/>
              </a:spcAft>
              <a:defRPr sz="1800"/>
            </a:pPr>
            <a:r>
              <a:t>• ACID transactions for learning consistency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Technical Advantages: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AI/ML Layer:</a:t>
            </a:r>
          </a:p>
          <a:p>
            <a:pPr>
              <a:spcAft>
                <a:spcPts val="1200"/>
              </a:spcAft>
              <a:defRPr sz="1800"/>
            </a:pPr>
            <a:r>
              <a:t>• Claude Sonnet 4.6 (latest, most capable)</a:t>
            </a:r>
          </a:p>
          <a:p>
            <a:pPr>
              <a:spcAft>
                <a:spcPts val="1200"/>
              </a:spcAft>
              <a:defRPr sz="1800"/>
            </a:pPr>
            <a:r>
              <a:t>• sentence-transformers (semantic understanding)</a:t>
            </a:r>
          </a:p>
          <a:p>
            <a:pPr>
              <a:spcAft>
                <a:spcPts val="1200"/>
              </a:spcAft>
              <a:defRPr sz="1800"/>
            </a:pPr>
            <a:r>
              <a:t>• 384-dim embeddings (compact, fast)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Database Layer: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pgvector extension</a:t>
            </a:r>
          </a:p>
          <a:p>
            <a:pPr>
              <a:spcAft>
                <a:spcPts val="1200"/>
              </a:spcAft>
              <a:defRPr sz="1800"/>
            </a:pPr>
            <a:r>
              <a:t>• HNSW index (99% accuracy, 100x faster)</a:t>
            </a:r>
          </a:p>
          <a:p>
            <a:pPr>
              <a:spcAft>
                <a:spcPts val="1200"/>
              </a:spcAft>
              <a:defRPr sz="1800"/>
            </a:pPr>
            <a:r>
              <a:t>• 2KB per query (tiny storage footprint)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Integration:</a:t>
            </a:r>
          </a:p>
          <a:p>
            <a:pPr>
              <a:spcAft>
                <a:spcPts val="1200"/>
              </a:spcAft>
              <a:defRPr sz="1800"/>
            </a:pPr>
            <a:r>
              <a:t>• MCP (Model Context Protocol) for tool use</a:t>
            </a:r>
          </a:p>
          <a:p>
            <a:pPr>
              <a:spcAft>
                <a:spcPts val="1200"/>
              </a:spcAft>
              <a:defRPr sz="1800"/>
            </a:pPr>
            <a:r>
              <a:t>• JSON-RPC streaming for real-time results</a:t>
            </a:r>
          </a:p>
          <a:p>
            <a:pPr>
              <a:spcAft>
                <a:spcPts val="1200"/>
              </a:spcAft>
              <a:defRPr sz="1800"/>
            </a:pPr>
            <a:r>
              <a:t>• Read-only enforcement (safe by design)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Target Industries &amp; Companies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SaaS Platforms:</a:t>
            </a:r>
          </a:p>
          <a:p>
            <a:pPr>
              <a:spcAft>
                <a:spcPts val="1200"/>
              </a:spcAft>
              <a:defRPr sz="1800"/>
            </a:pPr>
            <a:r>
              <a:t>• Customer support automation (reduce ticket volume 60%)</a:t>
            </a:r>
          </a:p>
          <a:p>
            <a:pPr>
              <a:spcAft>
                <a:spcPts val="1200"/>
              </a:spcAft>
              <a:defRPr sz="1800"/>
            </a:pPr>
            <a:r>
              <a:t>• In-app AI assistants (context-aware help)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Financial Services:</a:t>
            </a:r>
          </a:p>
          <a:p>
            <a:pPr>
              <a:spcAft>
                <a:spcPts val="1200"/>
              </a:spcAft>
              <a:defRPr sz="1800"/>
            </a:pPr>
            <a:r>
              <a:t>• Compliance query systems (audit-ready answers)</a:t>
            </a:r>
          </a:p>
          <a:p>
            <a:pPr>
              <a:spcAft>
                <a:spcPts val="1200"/>
              </a:spcAft>
              <a:defRPr sz="1800"/>
            </a:pPr>
            <a:r>
              <a:t>• Database operations for global deployments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E-commerce:</a:t>
            </a:r>
          </a:p>
          <a:p>
            <a:pPr>
              <a:spcAft>
                <a:spcPts val="1200"/>
              </a:spcAft>
              <a:defRPr sz="1800"/>
            </a:pPr>
            <a:r>
              <a:t>• Inventory management chatbots</a:t>
            </a:r>
          </a:p>
          <a:p>
            <a:pPr>
              <a:spcAft>
                <a:spcPts val="1200"/>
              </a:spcAft>
              <a:defRPr sz="1800"/>
            </a:pPr>
            <a:r>
              <a:t>• Real-time analytics assistants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Any company with: CockroachDB + Complex queries + Support costs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Ideal Customer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Who Benefits Most?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Companies with: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in production (100+ nodes)</a:t>
            </a:r>
          </a:p>
          <a:p>
            <a:pPr>
              <a:spcAft>
                <a:spcPts val="1200"/>
              </a:spcAft>
              <a:defRPr sz="1800"/>
            </a:pPr>
            <a:r>
              <a:t>• Large engineering teams (50+ developers)</a:t>
            </a:r>
          </a:p>
          <a:p>
            <a:pPr>
              <a:spcAft>
                <a:spcPts val="1200"/>
              </a:spcAft>
              <a:defRPr sz="1800"/>
            </a:pPr>
            <a:r>
              <a:t>• High support costs ($500k+/year)</a:t>
            </a:r>
          </a:p>
          <a:p>
            <a:pPr>
              <a:spcAft>
                <a:spcPts val="1200"/>
              </a:spcAft>
              <a:defRPr sz="1800"/>
            </a:pPr>
            <a:r>
              <a:t>• Complex database operations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deployments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Examples:</a:t>
            </a:r>
          </a:p>
          <a:p>
            <a:pPr>
              <a:spcAft>
                <a:spcPts val="1200"/>
              </a:spcAft>
              <a:defRPr sz="1800"/>
            </a:pPr>
            <a:r>
              <a:t>• Netflix, DoorDash, Comcast (existing CockroachDB users)</a:t>
            </a:r>
          </a:p>
          <a:p>
            <a:pPr>
              <a:spcAft>
                <a:spcPts val="1200"/>
              </a:spcAft>
              <a:defRPr sz="1800"/>
            </a:pPr>
            <a:r>
              <a:t>• Any Fortune 500 with distributed databases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Cost Savings:</a:t>
            </a:r>
          </a:p>
          <a:p>
            <a:pPr>
              <a:spcAft>
                <a:spcPts val="1200"/>
              </a:spcAft>
              <a:defRPr sz="1800"/>
            </a:pPr>
            <a:r>
              <a:t>• Traditional: ~50k tokens/query × $0.015/1k = $0.75/query</a:t>
            </a:r>
          </a:p>
          <a:p>
            <a:pPr>
              <a:spcAft>
                <a:spcPts val="1200"/>
              </a:spcAft>
              <a:defRPr sz="1800"/>
            </a:pPr>
            <a:r>
              <a:t>• Our system: ~2.5k tokens/query × $0.015/1k = $0.04/query</a:t>
            </a:r>
          </a:p>
          <a:p>
            <a:pPr>
              <a:spcAft>
                <a:spcPts val="1200"/>
              </a:spcAft>
              <a:defRPr sz="1800"/>
            </a:pPr>
            <a:r>
              <a:t>• Savings: 95% per query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At Scale:</a:t>
            </a:r>
          </a:p>
          <a:p>
            <a:pPr>
              <a:spcAft>
                <a:spcPts val="1200"/>
              </a:spcAft>
              <a:defRPr sz="1800"/>
            </a:pPr>
            <a:r>
              <a:t>• 10,000 queries/month → Save $7,100/month</a:t>
            </a:r>
          </a:p>
          <a:p>
            <a:pPr>
              <a:spcAft>
                <a:spcPts val="1200"/>
              </a:spcAft>
              <a:defRPr sz="1800"/>
            </a:pPr>
            <a:r>
              <a:t>• 100,000 queries/month → Save $71,000/month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Plus:</a:t>
            </a:r>
          </a:p>
          <a:p>
            <a:pPr>
              <a:spcAft>
                <a:spcPts val="1200"/>
              </a:spcAft>
              <a:defRPr sz="1800"/>
            </a:pPr>
            <a:r>
              <a:t>• 60% reduction in support tickets (faster answers)</a:t>
            </a:r>
          </a:p>
          <a:p>
            <a:pPr>
              <a:spcAft>
                <a:spcPts val="1200"/>
              </a:spcAft>
              <a:defRPr sz="1800"/>
            </a:pPr>
            <a:r>
              <a:t>• 80% faster response time (pre-learned skills)</a:t>
            </a:r>
          </a:p>
          <a:p>
            <a:pPr>
              <a:spcAft>
                <a:spcPts val="1200"/>
              </a:spcAft>
              <a:defRPr sz="1800"/>
            </a:pPr>
            <a:r>
              <a:t>• Zero retraining costs (learns automatically)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Why Competitors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PostgreSQL:</a:t>
            </a:r>
          </a:p>
          <a:p>
            <a:pPr>
              <a:spcAft>
                <a:spcPts val="1200"/>
              </a:spcAft>
              <a:defRPr sz="1800"/>
            </a:pPr>
            <a:r>
              <a:t>• No horizontal scaling (single-node bottleneck)</a:t>
            </a:r>
          </a:p>
          <a:p>
            <a:pPr>
              <a:spcAft>
                <a:spcPts val="1200"/>
              </a:spcAft>
              <a:defRPr sz="1800"/>
            </a:pPr>
            <a:r>
              <a:t>• Manual sharding required (complex, error-prone)</a:t>
            </a:r>
          </a:p>
          <a:p>
            <a:pPr>
              <a:spcAft>
                <a:spcPts val="1200"/>
              </a:spcAft>
              <a:defRPr sz="1800"/>
            </a:pPr>
            <a:r>
              <a:t>• No multi-region consistency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MongoDB:</a:t>
            </a:r>
          </a:p>
          <a:p>
            <a:pPr>
              <a:spcAft>
                <a:spcPts val="1200"/>
              </a:spcAft>
              <a:defRPr sz="1800"/>
            </a:pPr>
            <a:r>
              <a:t>• No pgvector support (can't do similarity search efficiently)</a:t>
            </a:r>
          </a:p>
          <a:p>
            <a:pPr>
              <a:spcAft>
                <a:spcPts val="1200"/>
              </a:spcAft>
              <a:defRPr sz="1800"/>
            </a:pPr>
            <a:r>
              <a:t>• Eventual consistency (learning data may be stale)</a:t>
            </a:r>
          </a:p>
          <a:p>
            <a:pPr>
              <a:spcAft>
                <a:spcPts val="1200"/>
              </a:spcAft>
              <a:defRPr sz="1800"/>
            </a:pPr>
            <a:r>
              <a:t>• No SQL (limited query capabilities)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MySQL:</a:t>
            </a:r>
          </a:p>
          <a:p>
            <a:pPr>
              <a:spcAft>
                <a:spcPts val="1200"/>
              </a:spcAft>
              <a:defRPr sz="1800"/>
            </a:pPr>
            <a:r>
              <a:t>• No vector extension at all</a:t>
            </a:r>
          </a:p>
          <a:p>
            <a:pPr>
              <a:spcAft>
                <a:spcPts val="1200"/>
              </a:spcAft>
              <a:defRPr sz="1800"/>
            </a:pPr>
            <a:r>
              <a:t>• Limited scaling beyond read replicas</a:t>
            </a:r>
          </a:p>
          <a:p>
            <a:pPr>
              <a:spcAft>
                <a:spcPts val="1200"/>
              </a:spcAft>
              <a:defRPr sz="1800"/>
            </a:pPr>
            <a:r>
              <a:t>• Not designed for AI/ML workloads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Performance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Response Time Breakdown:</a:t>
            </a:r>
          </a:p>
          <a:p>
            <a:pPr>
              <a:spcAft>
                <a:spcPts val="1200"/>
              </a:spcAft>
              <a:defRPr sz="1800"/>
            </a:pPr>
            <a:r>
              <a:t>• Embedding generation: 50ms (sentence-transformers)</a:t>
            </a:r>
          </a:p>
          <a:p>
            <a:pPr>
              <a:spcAft>
                <a:spcPts val="1200"/>
              </a:spcAft>
              <a:defRPr sz="1800"/>
            </a:pPr>
            <a:r>
              <a:t>• Similarity search: 5ms (HNSW index)</a:t>
            </a:r>
          </a:p>
          <a:p>
            <a:pPr>
              <a:spcAft>
                <a:spcPts val="1200"/>
              </a:spcAft>
              <a:defRPr sz="1800"/>
            </a:pPr>
            <a:r>
              <a:t>• Skill loading: 20ms (from CockroachDB)</a:t>
            </a:r>
          </a:p>
          <a:p>
            <a:pPr>
              <a:spcAft>
                <a:spcPts val="1200"/>
              </a:spcAft>
              <a:defRPr sz="1800"/>
            </a:pPr>
            <a:r>
              <a:t>• Claude API call: 2,000ms (network + inference)</a:t>
            </a:r>
          </a:p>
          <a:p>
            <a:pPr>
              <a:spcAft>
                <a:spcPts val="1200"/>
              </a:spcAft>
              <a:defRPr sz="1800"/>
            </a:pPr>
            <a:r>
              <a:t>• Total: ~2.1 seconds end-to-end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Storage Efficiency:</a:t>
            </a:r>
          </a:p>
          <a:p>
            <a:pPr>
              <a:spcAft>
                <a:spcPts val="1200"/>
              </a:spcAft>
              <a:defRPr sz="1800"/>
            </a:pPr>
            <a:r>
              <a:t>• 2KB per query (1000 queries = 2MB)</a:t>
            </a:r>
          </a:p>
          <a:p>
            <a:pPr>
              <a:spcAft>
                <a:spcPts val="1200"/>
              </a:spcAft>
              <a:defRPr sz="1800"/>
            </a:pPr>
            <a:r>
              <a:t>• 1 million queries = 2GB (minimal footprint)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Accuracy:</a:t>
            </a:r>
          </a:p>
          <a:p>
            <a:pPr>
              <a:spcAft>
                <a:spcPts val="1200"/>
              </a:spcAft>
              <a:defRPr sz="1800"/>
            </a:pPr>
            <a:r>
              <a:t>• 99% similarity search accuracy (HNSW)</a:t>
            </a:r>
          </a:p>
          <a:p>
            <a:pPr>
              <a:spcAft>
                <a:spcPts val="1200"/>
              </a:spcAft>
              <a:defRPr sz="1800"/>
            </a:pPr>
            <a:r>
              <a:t>• 0.3 threshold catches paraphrases effectively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Scalability: Built for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Horizontal Scaling: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automatically distributes learning data</a:t>
            </a:r>
          </a:p>
          <a:p>
            <a:pPr>
              <a:spcAft>
                <a:spcPts val="1200"/>
              </a:spcAft>
              <a:defRPr sz="1800"/>
            </a:pPr>
            <a:r>
              <a:t>• Add nodes → more query capacity</a:t>
            </a:r>
          </a:p>
          <a:p>
            <a:pPr>
              <a:spcAft>
                <a:spcPts val="1200"/>
              </a:spcAft>
              <a:defRPr sz="1800"/>
            </a:pPr>
            <a:r>
              <a:t>• No single point of failure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Multi-Instance Deployment:</a:t>
            </a:r>
          </a:p>
          <a:p>
            <a:pPr>
              <a:spcAft>
                <a:spcPts val="1200"/>
              </a:spcAft>
              <a:defRPr sz="1800"/>
            </a:pPr>
            <a:r>
              <a:t>• Multiple agents share same learning database</a:t>
            </a:r>
          </a:p>
          <a:p>
            <a:pPr>
              <a:spcAft>
                <a:spcPts val="1200"/>
              </a:spcAft>
              <a:defRPr sz="1800"/>
            </a:pPr>
            <a:r>
              <a:t>• Agent A's learning helps Agent B instantly</a:t>
            </a:r>
          </a:p>
          <a:p>
            <a:pPr>
              <a:spcAft>
                <a:spcPts val="1200"/>
              </a:spcAft>
              <a:defRPr sz="1800"/>
            </a:pPr>
            <a:r>
              <a:t>• Collective intelligence across all instances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Global Deployment:</a:t>
            </a:r>
          </a:p>
          <a:p>
            <a:pPr>
              <a:spcAft>
                <a:spcPts val="1200"/>
              </a:spcAft>
              <a:defRPr sz="1800"/>
            </a:pPr>
            <a:r>
              <a:t>• Multi-region CockroachDB clusters</a:t>
            </a:r>
          </a:p>
          <a:p>
            <a:pPr>
              <a:spcAft>
                <a:spcPts val="1200"/>
              </a:spcAft>
              <a:defRPr sz="1800"/>
            </a:pPr>
            <a:r>
              <a:t>• Local reads (low latency)</a:t>
            </a:r>
          </a:p>
          <a:p>
            <a:pPr>
              <a:spcAft>
                <a:spcPts val="1200"/>
              </a:spcAft>
              <a:defRPr sz="1800"/>
            </a:pPr>
            <a:r>
              <a:t>• Global consistency (accurate learning)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Handles: Millions of queries, thousands of users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Security: Safe by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Read-Only Enforcement:</a:t>
            </a:r>
          </a:p>
          <a:p>
            <a:pPr>
              <a:spcAft>
                <a:spcPts val="1200"/>
              </a:spcAft>
              <a:defRPr sz="1800"/>
            </a:pPr>
            <a:r>
              <a:t>• Agent CANNOT modify user data (hardcoded)</a:t>
            </a:r>
          </a:p>
          <a:p>
            <a:pPr>
              <a:spcAft>
                <a:spcPts val="1200"/>
              </a:spcAft>
              <a:defRPr sz="1800"/>
            </a:pPr>
            <a:r>
              <a:t>• MCP server configured read-only</a:t>
            </a:r>
          </a:p>
          <a:p>
            <a:pPr>
              <a:spcAft>
                <a:spcPts val="1200"/>
              </a:spcAft>
              <a:defRPr sz="1800"/>
            </a:pPr>
            <a:r>
              <a:t>• Double-layer protection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Data Privacy:</a:t>
            </a:r>
          </a:p>
          <a:p>
            <a:pPr>
              <a:spcAft>
                <a:spcPts val="1200"/>
              </a:spcAft>
              <a:defRPr sz="1800"/>
            </a:pPr>
            <a:r>
              <a:t>• Query embeddings are one-way (can't reverse to original text)</a:t>
            </a:r>
          </a:p>
          <a:p>
            <a:pPr>
              <a:spcAft>
                <a:spcPts val="1200"/>
              </a:spcAft>
              <a:defRPr sz="1800"/>
            </a:pPr>
            <a:r>
              <a:t>• No sensitive data stored in learning DB</a:t>
            </a:r>
          </a:p>
          <a:p>
            <a:pPr>
              <a:spcAft>
                <a:spcPts val="1200"/>
              </a:spcAft>
              <a:defRPr sz="1800"/>
            </a:pPr>
            <a:r>
              <a:t>• User queries stored only for learning (optional anonymization)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Compliance-Ready:</a:t>
            </a:r>
          </a:p>
          <a:p>
            <a:pPr>
              <a:spcAft>
                <a:spcPts val="1200"/>
              </a:spcAft>
              <a:defRPr sz="1800"/>
            </a:pPr>
            <a:r>
              <a:t>• CockroachDB GDPR/SOC2 compliant</a:t>
            </a:r>
          </a:p>
          <a:p>
            <a:pPr>
              <a:spcAft>
                <a:spcPts val="1200"/>
              </a:spcAft>
              <a:defRPr sz="1800"/>
            </a:pPr>
            <a:r>
              <a:t>• Audit trail of all queries</a:t>
            </a:r>
          </a:p>
          <a:p>
            <a:pPr>
              <a:spcAft>
                <a:spcPts val="1200"/>
              </a:spcAft>
              <a:defRPr sz="1800"/>
            </a:pPr>
            <a:r>
              <a:t>• Fine-grained access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Roadmap: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Short-term (Q2 2026):</a:t>
            </a:r>
          </a:p>
          <a:p>
            <a:pPr>
              <a:spcAft>
                <a:spcPts val="1200"/>
              </a:spcAft>
              <a:defRPr sz="1800"/>
            </a:pPr>
            <a:r>
              <a:t>• Higher quality embeddings (nomic-embed-text, 768-dim)</a:t>
            </a:r>
          </a:p>
          <a:p>
            <a:pPr>
              <a:spcAft>
                <a:spcPts val="1200"/>
              </a:spcAft>
              <a:defRPr sz="1800"/>
            </a:pPr>
            <a:r>
              <a:t>• Connection pooling (50% faster DB access)</a:t>
            </a:r>
          </a:p>
          <a:p>
            <a:pPr>
              <a:spcAft>
                <a:spcPts val="1200"/>
              </a:spcAft>
              <a:defRPr sz="1800"/>
            </a:pPr>
            <a:r>
              <a:t>• User feedback loop (rate answers 1-5)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Medium-term (Q3 2026):</a:t>
            </a:r>
          </a:p>
          <a:p>
            <a:pPr>
              <a:spcAft>
                <a:spcPts val="1200"/>
              </a:spcAft>
              <a:defRPr sz="1800"/>
            </a:pPr>
            <a:r>
              <a:t>• Multi-user support with personalization</a:t>
            </a:r>
          </a:p>
          <a:p>
            <a:pPr>
              <a:spcAft>
                <a:spcPts val="1200"/>
              </a:spcAft>
              <a:defRPr sz="1800"/>
            </a:pPr>
            <a:r>
              <a:t>• Metrics dashboard (queries/hour, top skills, etc.)</a:t>
            </a:r>
          </a:p>
          <a:p>
            <a:pPr>
              <a:spcAft>
                <a:spcPts val="1200"/>
              </a:spcAft>
              <a:defRPr sz="1800"/>
            </a:pPr>
            <a:r>
              <a:t>• Skill auto-generation from documentation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Long-term (Q4 2026+):</a:t>
            </a:r>
          </a:p>
          <a:p>
            <a:pPr>
              <a:spcAft>
                <a:spcPts val="1200"/>
              </a:spcAft>
              <a:defRPr sz="1800"/>
            </a:pPr>
            <a:r>
              <a:t>• Multi-modal support (images, logs, metrics)</a:t>
            </a:r>
          </a:p>
          <a:p>
            <a:pPr>
              <a:spcAft>
                <a:spcPts val="1200"/>
              </a:spcAft>
              <a:defRPr sz="1800"/>
            </a:pPr>
            <a:r>
              <a:t>• Federated learning across customer deployments</a:t>
            </a:r>
          </a:p>
          <a:p>
            <a:pPr>
              <a:spcAft>
                <a:spcPts val="1200"/>
              </a:spcAft>
              <a:defRPr sz="1800"/>
            </a:pPr>
            <a:r>
              <a:t>• Autonomous cluster optimization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Getting Started: 30-Day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Week 1: Foundation</a:t>
            </a:r>
          </a:p>
          <a:p>
            <a:pPr>
              <a:spcAft>
                <a:spcPts val="1200"/>
              </a:spcAft>
              <a:defRPr sz="1800"/>
            </a:pPr>
            <a:r>
              <a:t>• Set up CockroachDB cluster with pgvector</a:t>
            </a:r>
          </a:p>
          <a:p>
            <a:pPr>
              <a:spcAft>
                <a:spcPts val="1200"/>
              </a:spcAft>
              <a:defRPr sz="1800"/>
            </a:pPr>
            <a:r>
              <a:t>• Create ai_demo database schema</a:t>
            </a:r>
          </a:p>
          <a:p>
            <a:pPr>
              <a:spcAft>
                <a:spcPts val="1200"/>
              </a:spcAft>
              <a:defRPr sz="1800"/>
            </a:pPr>
            <a:r>
              <a:t>• Deploy MCP server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Week 2: Integration</a:t>
            </a:r>
          </a:p>
          <a:p>
            <a:pPr>
              <a:spcAft>
                <a:spcPts val="1200"/>
              </a:spcAft>
              <a:defRPr sz="1800"/>
            </a:pPr>
            <a:r>
              <a:t>• Configure Claude API (Vertex AI)</a:t>
            </a:r>
          </a:p>
          <a:p>
            <a:pPr>
              <a:spcAft>
                <a:spcPts val="1200"/>
              </a:spcAft>
              <a:defRPr sz="1800"/>
            </a:pPr>
            <a:r>
              <a:t>• Install sentence-transformers</a:t>
            </a:r>
          </a:p>
          <a:p>
            <a:pPr>
              <a:spcAft>
                <a:spcPts val="1200"/>
              </a:spcAft>
              <a:defRPr sz="1800"/>
            </a:pPr>
            <a:r>
              <a:t>• Load initial SKILL.md files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Week 3-4: Training &amp; Tuning</a:t>
            </a:r>
          </a:p>
          <a:p>
            <a:pPr>
              <a:spcAft>
                <a:spcPts val="1200"/>
              </a:spcAft>
              <a:defRPr sz="1800"/>
            </a:pPr>
            <a:r>
              <a:t>• Seed with 100 common queries</a:t>
            </a:r>
          </a:p>
          <a:p>
            <a:pPr>
              <a:spcAft>
                <a:spcPts val="1200"/>
              </a:spcAft>
              <a:defRPr sz="1800"/>
            </a:pPr>
            <a:r>
              <a:t>• Fine-tune similarity threshold</a:t>
            </a:r>
          </a:p>
          <a:p>
            <a:pPr>
              <a:spcAft>
                <a:spcPts val="1200"/>
              </a:spcAft>
              <a:defRPr sz="1800"/>
            </a:pPr>
            <a:r>
              <a:t>• User acceptance testing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Day 30: Production deployment ✓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3366"/>
                </a:solidFill>
              </a:defRPr>
            </a:pPr>
            <a:r>
              <a:t>How to Measure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Learning Effectiveness:</a:t>
            </a:r>
          </a:p>
          <a:p>
            <a:pPr>
              <a:spcAft>
                <a:spcPts val="1200"/>
              </a:spcAft>
              <a:defRPr sz="1800"/>
            </a:pPr>
            <a:r>
              <a:t>• % queries with similarity match &gt;0.3 (target: 70% by month 3)</a:t>
            </a:r>
          </a:p>
          <a:p>
            <a:pPr>
              <a:spcAft>
                <a:spcPts val="1200"/>
              </a:spcAft>
              <a:defRPr sz="1800"/>
            </a:pPr>
            <a:r>
              <a:t>• Average similarity score trend (should increase over time)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Cost Efficiency:</a:t>
            </a:r>
          </a:p>
          <a:p>
            <a:pPr>
              <a:spcAft>
                <a:spcPts val="1200"/>
              </a:spcAft>
              <a:defRPr sz="1800"/>
            </a:pPr>
            <a:r>
              <a:t>• Token usage per query (target: &lt;3k)</a:t>
            </a:r>
          </a:p>
          <a:p>
            <a:pPr>
              <a:spcAft>
                <a:spcPts val="1200"/>
              </a:spcAft>
              <a:defRPr sz="1800"/>
            </a:pPr>
            <a:r>
              <a:t>• Cost per query (target: &lt;$0.05)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User Satisfaction:</a:t>
            </a:r>
          </a:p>
          <a:p>
            <a:pPr>
              <a:spcAft>
                <a:spcPts val="1200"/>
              </a:spcAft>
              <a:defRPr sz="1800"/>
            </a:pPr>
            <a:r>
              <a:t>• Response time (target: &lt;3s)</a:t>
            </a:r>
          </a:p>
          <a:p>
            <a:pPr>
              <a:spcAft>
                <a:spcPts val="1200"/>
              </a:spcAft>
              <a:defRPr sz="1800"/>
            </a:pPr>
            <a:r>
              <a:t>• Answer accuracy (target: 90%+)</a:t>
            </a:r>
          </a:p>
          <a:p>
            <a:pPr>
              <a:spcAft>
                <a:spcPts val="1200"/>
              </a:spcAft>
              <a:defRPr sz="1800"/>
            </a:pPr>
            <a:r>
              <a:t>• User ratings (target: 4.5/5)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Business Impact:</a:t>
            </a:r>
          </a:p>
          <a:p>
            <a:pPr>
              <a:spcAft>
                <a:spcPts val="1200"/>
              </a:spcAft>
              <a:defRPr sz="1800"/>
            </a:pPr>
            <a:r>
              <a:t>• Support ticket reduction (target: 50%)</a:t>
            </a:r>
          </a:p>
          <a:p>
            <a:pPr>
              <a:spcAft>
                <a:spcPts val="1200"/>
              </a:spcAft>
              <a:defRPr sz="1800"/>
            </a:pPr>
            <a:r>
              <a:t>• Developer productivity gain (target: 30%)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00"/>
                </a:solidFill>
              </a:defRPr>
            </a:pPr>
            <a:r>
              <a:t>Summary: The Future of Database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We've Built:</a:t>
            </a:r>
          </a:p>
          <a:p>
            <a:pPr>
              <a:spcAft>
                <a:spcPts val="1200"/>
              </a:spcAft>
              <a:defRPr sz="1800"/>
            </a:pPr>
            <a:r>
              <a:t>✓ Self-learning AI agent (no retraining needed)</a:t>
            </a:r>
          </a:p>
          <a:p>
            <a:pPr>
              <a:spcAft>
                <a:spcPts val="1200"/>
              </a:spcAft>
              <a:defRPr sz="1800"/>
            </a:pPr>
            <a:r>
              <a:t>✓ 95% cost reduction (vs traditional chatbots)</a:t>
            </a:r>
          </a:p>
          <a:p>
            <a:pPr>
              <a:spcAft>
                <a:spcPts val="1200"/>
              </a:spcAft>
              <a:defRPr sz="1800"/>
            </a:pPr>
            <a:r>
              <a:t>✓ Semantic understanding (paraphrases, synonyms)</a:t>
            </a:r>
          </a:p>
          <a:p>
            <a:pPr>
              <a:spcAft>
                <a:spcPts val="1200"/>
              </a:spcAft>
              <a:defRPr sz="1800"/>
            </a:pPr>
            <a:r>
              <a:t>✓ Production-ready on CockroachDB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Why It Matters:</a:t>
            </a:r>
          </a:p>
          <a:p>
            <a:pPr>
              <a:spcAft>
                <a:spcPts val="1200"/>
              </a:spcAft>
              <a:defRPr sz="1800"/>
            </a:pPr>
            <a:r>
              <a:t>• First learning system for database operations</a:t>
            </a:r>
          </a:p>
          <a:p>
            <a:pPr>
              <a:spcAft>
                <a:spcPts val="1200"/>
              </a:spcAft>
              <a:defRPr sz="1800"/>
            </a:pPr>
            <a:r>
              <a:t>• Scales to millions of users</a:t>
            </a:r>
          </a:p>
          <a:p>
            <a:pPr>
              <a:spcAft>
                <a:spcPts val="1200"/>
              </a:spcAft>
              <a:defRPr sz="1800"/>
            </a:pPr>
            <a:r>
              <a:t>• Only possible with CockroachDB's vector + SQL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Ready to transform database support and operations!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